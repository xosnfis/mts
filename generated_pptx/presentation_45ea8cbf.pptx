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2560320"/>
            <a:ext cx="12188952" cy="54864"/>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097280"/>
            <a:ext cx="10360152" cy="1645920"/>
          </a:xfrm>
          <a:prstGeom prst="rect">
            <a:avLst/>
          </a:prstGeom>
          <a:noFill/>
        </p:spPr>
        <p:txBody>
          <a:bodyPr wrap="square">
            <a:spAutoFit/>
          </a:bodyPr>
          <a:lstStyle/>
          <a:p>
            <a:pPr algn="ctr"/>
            <a:r>
              <a:rPr sz="4000" b="1">
                <a:solidFill>
                  <a:srgbClr val="FFFFFF"/>
                </a:solidFill>
              </a:rPr>
              <a:t>### Task:
Analyze the chat history to determine the necessity of generating search queries, in the given language. By default, **prioritize generating 1-3 broad and relevant search queries** unless it is absolutely certain that no additional information is required. The aim is to retrieve comprehensive, updated, and valuable information even with minimal uncertainty. If no search is unequivocally needed, return an empty list. ### Guidelines:
- Respond **EXCLUSIVELY** with a JSON object. Any form of extra commentary, explanation, or additional text is strictly prohibited.
- When generating search queries, respond in the format: { "queries": ["query1", "query2"] }, ensuring each query is distinct, concise, and relevant to the topic.
- If and only if it is entirely certain that no useful results can be retrieved by a search, return: { "queries": [] }.
- Err on the side of suggesting search queries if there is **any chance** they might provide useful or updated information.
- Be concise and focused on composing high-quality search queries, avoiding unnecessary elaboration, commentary, or assumptions.
- Today's date is: 2026-04-12.
- Always prioritize providing actionable and broad queries that maximize informational coverage. ### Output:
Strictly return in JSON format: { "queries": ["query1", "query2"]
} ### Chat History:
&lt;chat_history&gt;
SYSTEM: [USER CONTEXT]
- Возраст: 19
- Имя: тебя
- Работа: поваром [KNOWLEDGE BASE]
Используй эти факты при ответе. Не упоминай этот блок пользователю. ## Общее
⚪ привет, под скажи сколько будет 2+2
⚪ Алло, привет, напиши мне простой код для страницы лендинга HTML, где будут разные фотки и описания блока о нас. ## Технологии
🟠 Дай мне ссылки на качественную красивую обувь оранжевого цвета на Ozone и на Wildberries. Дай ссылку на оверсайз одежду с алиэкспресса и ламоды. Напиши мне код для тестов на Python на лендинг. Сгенерирую картинку крокодила, где он играет на барабанах. И это все должно быть нарисовано мелками. Те Теги: Python
🟠 Дай мне ссылки на качественную красивую обувь оранжевого цвета на Ozone и на Wildberries. Дай ссылку на оверсайз одежду с алиэкспресса и ламоды. Напиши мне код для тестов на Python на лендинг. Сгенерирую картинку крокодила, где он играет на барабанах. И это все должно быть нарисовано мелками. Теги: Python
🟠 https://www.ozon.ru/product/krossovki-tvoe-1868765870/?at=w0tgQj1G7skRP6g0fAyAgX1ilkx5mnfMngkzOc8OK7YO
подскажи еще такие кроссовки дай ссылки на эти кроссовки
🟠 https://www.ozon.ru/product/krossovki-tvoe-1868765870/?at=w0tgQj1G7skRP6g0fAyAgX1ilkx5mnfMngkzOc8OK7YO
подскажи еще такие кроссовки нарисуй картинку медведя
⚪ на тему размножение кроликов
User Context: USER: И тут также можно с ним разговаривать.
ASSISTANT: USER: нарисуй картинку медведя
ASSISTANT: .
USER: что тут написано расскажи вкратце
&lt;/chat_history&gt;
</a:t>
            </a:r>
          </a:p>
        </p:txBody>
      </p:sp>
      <p:sp>
        <p:nvSpPr>
          <p:cNvPr id="4" name="TextBox 3"/>
          <p:cNvSpPr txBox="1"/>
          <p:nvPr/>
        </p:nvSpPr>
        <p:spPr>
          <a:xfrm>
            <a:off x="914400" y="2926080"/>
            <a:ext cx="10360152" cy="457200"/>
          </a:xfrm>
          <a:prstGeom prst="rect">
            <a:avLst/>
          </a:prstGeom>
          <a:noFill/>
        </p:spPr>
        <p:txBody>
          <a:bodyPr wrap="square">
            <a:spAutoFit/>
          </a:bodyPr>
          <a:lstStyle/>
          <a:p>
            <a:pPr algn="ctr"/>
            <a:r>
              <a:rPr sz="2200" b="0">
                <a:solidFill>
                  <a:srgbClr val="CCDDFF"/>
                </a:solidFill>
              </a:rPr>
              <a:t>Выполнил/а: _______________</a:t>
            </a:r>
          </a:p>
        </p:txBody>
      </p:sp>
      <p:sp>
        <p:nvSpPr>
          <p:cNvPr id="5" name="TextBox 4"/>
          <p:cNvSpPr txBox="1"/>
          <p:nvPr/>
        </p:nvSpPr>
        <p:spPr>
          <a:xfrm>
            <a:off x="914400" y="3429000"/>
            <a:ext cx="10360152" cy="457200"/>
          </a:xfrm>
          <a:prstGeom prst="rect">
            <a:avLst/>
          </a:prstGeom>
          <a:noFill/>
        </p:spPr>
        <p:txBody>
          <a:bodyPr wrap="square">
            <a:spAutoFit/>
          </a:bodyPr>
          <a:lstStyle/>
          <a:p>
            <a:pPr algn="ctr"/>
            <a:r>
              <a:rPr sz="2200" b="0">
                <a:solidFill>
                  <a:srgbClr val="CCDDFF"/>
                </a:solidFill>
              </a:rPr>
              <a:t>Проверил/а: _______________</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1430000" cy="914400"/>
          </a:xfrm>
          <a:prstGeom prst="rect">
            <a:avLst/>
          </a:prstGeom>
          <a:noFill/>
        </p:spPr>
        <p:txBody>
          <a:bodyPr wrap="square">
            <a:spAutoFit/>
          </a:bodyPr>
          <a:lstStyle/>
          <a:p>
            <a:pPr algn="l"/>
            <a:r>
              <a:rPr sz="2800" b="1">
                <a:solidFill>
                  <a:srgbClr val="FFFFFF"/>
                </a:solidFill>
              </a:rPr>
              <a:t>Введение</a:t>
            </a:r>
          </a:p>
        </p:txBody>
      </p:sp>
      <p:sp>
        <p:nvSpPr>
          <p:cNvPr id="4" name="Rectangle 3"/>
          <p:cNvSpPr/>
          <p:nvPr/>
        </p:nvSpPr>
        <p:spPr>
          <a:xfrm>
            <a:off x="365760" y="1325880"/>
            <a:ext cx="11430000" cy="36576"/>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508760"/>
            <a:ext cx="10972800" cy="502920"/>
          </a:xfrm>
          <a:prstGeom prst="rect">
            <a:avLst/>
          </a:prstGeom>
          <a:noFill/>
        </p:spPr>
        <p:txBody>
          <a:bodyPr wrap="square">
            <a:spAutoFit/>
          </a:bodyPr>
          <a:lstStyle/>
          <a:p>
            <a:pPr algn="l"/>
            <a:r>
              <a:rPr sz="1800" b="0">
                <a:solidFill>
                  <a:srgbClr val="CCDDFF"/>
                </a:solidFill>
              </a:rPr>
              <a:t>▸  Анализ чата</a:t>
            </a:r>
          </a:p>
        </p:txBody>
      </p:sp>
      <p:sp>
        <p:nvSpPr>
          <p:cNvPr id="6" name="TextBox 5"/>
          <p:cNvSpPr txBox="1"/>
          <p:nvPr/>
        </p:nvSpPr>
        <p:spPr>
          <a:xfrm>
            <a:off x="548640" y="2103120"/>
            <a:ext cx="10972800" cy="502920"/>
          </a:xfrm>
          <a:prstGeom prst="rect">
            <a:avLst/>
          </a:prstGeom>
          <a:noFill/>
        </p:spPr>
        <p:txBody>
          <a:bodyPr wrap="square">
            <a:spAutoFit/>
          </a:bodyPr>
          <a:lstStyle/>
          <a:p>
            <a:pPr algn="l"/>
            <a:r>
              <a:rPr sz="1800" b="0">
                <a:solidFill>
                  <a:srgbClr val="CCDDFF"/>
                </a:solidFill>
              </a:rPr>
              <a:t>▸  Определение необходимости поиска</a:t>
            </a:r>
          </a:p>
        </p:txBody>
      </p:sp>
      <p:sp>
        <p:nvSpPr>
          <p:cNvPr id="7" name="TextBox 6"/>
          <p:cNvSpPr txBox="1"/>
          <p:nvPr/>
        </p:nvSpPr>
        <p:spPr>
          <a:xfrm>
            <a:off x="548640" y="2697479"/>
            <a:ext cx="10972800" cy="502920"/>
          </a:xfrm>
          <a:prstGeom prst="rect">
            <a:avLst/>
          </a:prstGeom>
          <a:noFill/>
        </p:spPr>
        <p:txBody>
          <a:bodyPr wrap="square">
            <a:spAutoFit/>
          </a:bodyPr>
          <a:lstStyle/>
          <a:p>
            <a:pPr algn="l"/>
            <a:r>
              <a:rPr sz="1800" b="0">
                <a:solidFill>
                  <a:srgbClr val="CCDDFF"/>
                </a:solidFill>
              </a:rPr>
              <a:t>▸  Цель - получить информацию</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1430000" cy="914400"/>
          </a:xfrm>
          <a:prstGeom prst="rect">
            <a:avLst/>
          </a:prstGeom>
          <a:noFill/>
        </p:spPr>
        <p:txBody>
          <a:bodyPr wrap="square">
            <a:spAutoFit/>
          </a:bodyPr>
          <a:lstStyle/>
          <a:p>
            <a:pPr algn="l"/>
            <a:r>
              <a:rPr sz="2800" b="1">
                <a:solidFill>
                  <a:srgbClr val="FFFFFF"/>
                </a:solidFill>
              </a:rPr>
              <a:t>Чат-история</a:t>
            </a:r>
          </a:p>
        </p:txBody>
      </p:sp>
      <p:sp>
        <p:nvSpPr>
          <p:cNvPr id="4" name="Rectangle 3"/>
          <p:cNvSpPr/>
          <p:nvPr/>
        </p:nvSpPr>
        <p:spPr>
          <a:xfrm>
            <a:off x="365760" y="1325880"/>
            <a:ext cx="11430000" cy="36576"/>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508760"/>
            <a:ext cx="10972800" cy="502920"/>
          </a:xfrm>
          <a:prstGeom prst="rect">
            <a:avLst/>
          </a:prstGeom>
          <a:noFill/>
        </p:spPr>
        <p:txBody>
          <a:bodyPr wrap="square">
            <a:spAutoFit/>
          </a:bodyPr>
          <a:lstStyle/>
          <a:p>
            <a:pPr algn="l"/>
            <a:r>
              <a:rPr sz="1800" b="0">
                <a:solidFill>
                  <a:srgbClr val="CCDDFF"/>
                </a:solidFill>
              </a:rPr>
              <a:t>▸  Обмен сообщениями</a:t>
            </a:r>
          </a:p>
        </p:txBody>
      </p:sp>
      <p:sp>
        <p:nvSpPr>
          <p:cNvPr id="6" name="TextBox 5"/>
          <p:cNvSpPr txBox="1"/>
          <p:nvPr/>
        </p:nvSpPr>
        <p:spPr>
          <a:xfrm>
            <a:off x="548640" y="2103120"/>
            <a:ext cx="10972800" cy="502920"/>
          </a:xfrm>
          <a:prstGeom prst="rect">
            <a:avLst/>
          </a:prstGeom>
          <a:noFill/>
        </p:spPr>
        <p:txBody>
          <a:bodyPr wrap="square">
            <a:spAutoFit/>
          </a:bodyPr>
          <a:lstStyle/>
          <a:p>
            <a:pPr algn="l"/>
            <a:r>
              <a:rPr sz="1800" b="0">
                <a:solidFill>
                  <a:srgbClr val="CCDDFF"/>
                </a:solidFill>
              </a:rPr>
              <a:t>▸  Запросы пользователя</a:t>
            </a:r>
          </a:p>
        </p:txBody>
      </p:sp>
      <p:sp>
        <p:nvSpPr>
          <p:cNvPr id="7" name="TextBox 6"/>
          <p:cNvSpPr txBox="1"/>
          <p:nvPr/>
        </p:nvSpPr>
        <p:spPr>
          <a:xfrm>
            <a:off x="548640" y="2697479"/>
            <a:ext cx="10972800" cy="502920"/>
          </a:xfrm>
          <a:prstGeom prst="rect">
            <a:avLst/>
          </a:prstGeom>
          <a:noFill/>
        </p:spPr>
        <p:txBody>
          <a:bodyPr wrap="square">
            <a:spAutoFit/>
          </a:bodyPr>
          <a:lstStyle/>
          <a:p>
            <a:pPr algn="l"/>
            <a:r>
              <a:rPr sz="1800" b="0">
                <a:solidFill>
                  <a:srgbClr val="CCDDFF"/>
                </a:solidFill>
              </a:rPr>
              <a:t>▸  Ответы системы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1430000" cy="914400"/>
          </a:xfrm>
          <a:prstGeom prst="rect">
            <a:avLst/>
          </a:prstGeom>
          <a:noFill/>
        </p:spPr>
        <p:txBody>
          <a:bodyPr wrap="square">
            <a:spAutoFit/>
          </a:bodyPr>
          <a:lstStyle/>
          <a:p>
            <a:pPr algn="l"/>
            <a:r>
              <a:rPr sz="2800" b="1">
                <a:solidFill>
                  <a:srgbClr val="FFFFFF"/>
                </a:solidFill>
              </a:rPr>
              <a:t>Технологии</a:t>
            </a:r>
          </a:p>
        </p:txBody>
      </p:sp>
      <p:sp>
        <p:nvSpPr>
          <p:cNvPr id="4" name="Rectangle 3"/>
          <p:cNvSpPr/>
          <p:nvPr/>
        </p:nvSpPr>
        <p:spPr>
          <a:xfrm>
            <a:off x="365760" y="1325880"/>
            <a:ext cx="11430000" cy="36576"/>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508760"/>
            <a:ext cx="10972800" cy="502920"/>
          </a:xfrm>
          <a:prstGeom prst="rect">
            <a:avLst/>
          </a:prstGeom>
          <a:noFill/>
        </p:spPr>
        <p:txBody>
          <a:bodyPr wrap="square">
            <a:spAutoFit/>
          </a:bodyPr>
          <a:lstStyle/>
          <a:p>
            <a:pPr algn="l"/>
            <a:r>
              <a:rPr sz="1800" b="0">
                <a:solidFill>
                  <a:srgbClr val="CCDDFF"/>
                </a:solidFill>
              </a:rPr>
              <a:t>▸  Python</a:t>
            </a:r>
          </a:p>
        </p:txBody>
      </p:sp>
      <p:sp>
        <p:nvSpPr>
          <p:cNvPr id="6" name="TextBox 5"/>
          <p:cNvSpPr txBox="1"/>
          <p:nvPr/>
        </p:nvSpPr>
        <p:spPr>
          <a:xfrm>
            <a:off x="548640" y="2103120"/>
            <a:ext cx="10972800" cy="502920"/>
          </a:xfrm>
          <a:prstGeom prst="rect">
            <a:avLst/>
          </a:prstGeom>
          <a:noFill/>
        </p:spPr>
        <p:txBody>
          <a:bodyPr wrap="square">
            <a:spAutoFit/>
          </a:bodyPr>
          <a:lstStyle/>
          <a:p>
            <a:pPr algn="l"/>
            <a:r>
              <a:rPr sz="1800" b="0">
                <a:solidFill>
                  <a:srgbClr val="CCDDFF"/>
                </a:solidFill>
              </a:rPr>
              <a:t>▸  HTML</a:t>
            </a:r>
          </a:p>
        </p:txBody>
      </p:sp>
      <p:sp>
        <p:nvSpPr>
          <p:cNvPr id="7" name="TextBox 6"/>
          <p:cNvSpPr txBox="1"/>
          <p:nvPr/>
        </p:nvSpPr>
        <p:spPr>
          <a:xfrm>
            <a:off x="548640" y="2697479"/>
            <a:ext cx="10972800" cy="502920"/>
          </a:xfrm>
          <a:prstGeom prst="rect">
            <a:avLst/>
          </a:prstGeom>
          <a:noFill/>
        </p:spPr>
        <p:txBody>
          <a:bodyPr wrap="square">
            <a:spAutoFit/>
          </a:bodyPr>
          <a:lstStyle/>
          <a:p>
            <a:pPr algn="l"/>
            <a:r>
              <a:rPr sz="1800" b="0">
                <a:solidFill>
                  <a:srgbClr val="CCDDFF"/>
                </a:solidFill>
              </a:rPr>
              <a:t>▸  Оранжевая обувь</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1430000" cy="914400"/>
          </a:xfrm>
          <a:prstGeom prst="rect">
            <a:avLst/>
          </a:prstGeom>
          <a:noFill/>
        </p:spPr>
        <p:txBody>
          <a:bodyPr wrap="square">
            <a:spAutoFit/>
          </a:bodyPr>
          <a:lstStyle/>
          <a:p>
            <a:pPr algn="l"/>
            <a:r>
              <a:rPr sz="2800" b="1">
                <a:solidFill>
                  <a:srgbClr val="FFFFFF"/>
                </a:solidFill>
              </a:rPr>
              <a:t>Поиск информации</a:t>
            </a:r>
          </a:p>
        </p:txBody>
      </p:sp>
      <p:sp>
        <p:nvSpPr>
          <p:cNvPr id="4" name="Rectangle 3"/>
          <p:cNvSpPr/>
          <p:nvPr/>
        </p:nvSpPr>
        <p:spPr>
          <a:xfrm>
            <a:off x="365760" y="1325880"/>
            <a:ext cx="11430000" cy="36576"/>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508760"/>
            <a:ext cx="10972800" cy="502920"/>
          </a:xfrm>
          <a:prstGeom prst="rect">
            <a:avLst/>
          </a:prstGeom>
          <a:noFill/>
        </p:spPr>
        <p:txBody>
          <a:bodyPr wrap="square">
            <a:spAutoFit/>
          </a:bodyPr>
          <a:lstStyle/>
          <a:p>
            <a:pPr algn="l"/>
            <a:r>
              <a:rPr sz="1800" b="0">
                <a:solidFill>
                  <a:srgbClr val="CCDDFF"/>
                </a:solidFill>
              </a:rPr>
              <a:t>▸  Ozone</a:t>
            </a:r>
          </a:p>
        </p:txBody>
      </p:sp>
      <p:sp>
        <p:nvSpPr>
          <p:cNvPr id="6" name="TextBox 5"/>
          <p:cNvSpPr txBox="1"/>
          <p:nvPr/>
        </p:nvSpPr>
        <p:spPr>
          <a:xfrm>
            <a:off x="548640" y="2103120"/>
            <a:ext cx="10972800" cy="502920"/>
          </a:xfrm>
          <a:prstGeom prst="rect">
            <a:avLst/>
          </a:prstGeom>
          <a:noFill/>
        </p:spPr>
        <p:txBody>
          <a:bodyPr wrap="square">
            <a:spAutoFit/>
          </a:bodyPr>
          <a:lstStyle/>
          <a:p>
            <a:pPr algn="l"/>
            <a:r>
              <a:rPr sz="1800" b="0">
                <a:solidFill>
                  <a:srgbClr val="CCDDFF"/>
                </a:solidFill>
              </a:rPr>
              <a:t>▸  Wildberries</a:t>
            </a:r>
          </a:p>
        </p:txBody>
      </p:sp>
      <p:sp>
        <p:nvSpPr>
          <p:cNvPr id="7" name="TextBox 6"/>
          <p:cNvSpPr txBox="1"/>
          <p:nvPr/>
        </p:nvSpPr>
        <p:spPr>
          <a:xfrm>
            <a:off x="548640" y="2697479"/>
            <a:ext cx="10972800" cy="502920"/>
          </a:xfrm>
          <a:prstGeom prst="rect">
            <a:avLst/>
          </a:prstGeom>
          <a:noFill/>
        </p:spPr>
        <p:txBody>
          <a:bodyPr wrap="square">
            <a:spAutoFit/>
          </a:bodyPr>
          <a:lstStyle/>
          <a:p>
            <a:pPr algn="l"/>
            <a:r>
              <a:rPr sz="1800" b="0">
                <a:solidFill>
                  <a:srgbClr val="CCDDFF"/>
                </a:solidFill>
              </a:rPr>
              <a:t>▸  Алиэкспресс</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1430000" cy="914400"/>
          </a:xfrm>
          <a:prstGeom prst="rect">
            <a:avLst/>
          </a:prstGeom>
          <a:noFill/>
        </p:spPr>
        <p:txBody>
          <a:bodyPr wrap="square">
            <a:spAutoFit/>
          </a:bodyPr>
          <a:lstStyle/>
          <a:p>
            <a:pPr algn="l"/>
            <a:r>
              <a:rPr sz="2800" b="1">
                <a:solidFill>
                  <a:srgbClr val="FFFFFF"/>
                </a:solidFill>
              </a:rPr>
              <a:t>Генерация контента</a:t>
            </a:r>
          </a:p>
        </p:txBody>
      </p:sp>
      <p:sp>
        <p:nvSpPr>
          <p:cNvPr id="4" name="Rectangle 3"/>
          <p:cNvSpPr/>
          <p:nvPr/>
        </p:nvSpPr>
        <p:spPr>
          <a:xfrm>
            <a:off x="365760" y="1325880"/>
            <a:ext cx="11430000" cy="36576"/>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508760"/>
            <a:ext cx="10972800" cy="502920"/>
          </a:xfrm>
          <a:prstGeom prst="rect">
            <a:avLst/>
          </a:prstGeom>
          <a:noFill/>
        </p:spPr>
        <p:txBody>
          <a:bodyPr wrap="square">
            <a:spAutoFit/>
          </a:bodyPr>
          <a:lstStyle/>
          <a:p>
            <a:pPr algn="l"/>
            <a:r>
              <a:rPr sz="1800" b="0">
                <a:solidFill>
                  <a:srgbClr val="CCDDFF"/>
                </a:solidFill>
              </a:rPr>
              <a:t>▸  Картинки</a:t>
            </a:r>
          </a:p>
        </p:txBody>
      </p:sp>
      <p:sp>
        <p:nvSpPr>
          <p:cNvPr id="6" name="TextBox 5"/>
          <p:cNvSpPr txBox="1"/>
          <p:nvPr/>
        </p:nvSpPr>
        <p:spPr>
          <a:xfrm>
            <a:off x="548640" y="2103120"/>
            <a:ext cx="10972800" cy="502920"/>
          </a:xfrm>
          <a:prstGeom prst="rect">
            <a:avLst/>
          </a:prstGeom>
          <a:noFill/>
        </p:spPr>
        <p:txBody>
          <a:bodyPr wrap="square">
            <a:spAutoFit/>
          </a:bodyPr>
          <a:lstStyle/>
          <a:p>
            <a:pPr algn="l"/>
            <a:r>
              <a:rPr sz="1800" b="0">
                <a:solidFill>
                  <a:srgbClr val="CCDDFF"/>
                </a:solidFill>
              </a:rPr>
              <a:t>▸  Текст</a:t>
            </a:r>
          </a:p>
        </p:txBody>
      </p:sp>
      <p:sp>
        <p:nvSpPr>
          <p:cNvPr id="7" name="TextBox 6"/>
          <p:cNvSpPr txBox="1"/>
          <p:nvPr/>
        </p:nvSpPr>
        <p:spPr>
          <a:xfrm>
            <a:off x="548640" y="2697479"/>
            <a:ext cx="10972800" cy="502920"/>
          </a:xfrm>
          <a:prstGeom prst="rect">
            <a:avLst/>
          </a:prstGeom>
          <a:noFill/>
        </p:spPr>
        <p:txBody>
          <a:bodyPr wrap="square">
            <a:spAutoFit/>
          </a:bodyPr>
          <a:lstStyle/>
          <a:p>
            <a:pPr algn="l"/>
            <a:r>
              <a:rPr sz="1800" b="0">
                <a:solidFill>
                  <a:srgbClr val="CCDDFF"/>
                </a:solidFill>
              </a:rPr>
              <a:t>▸  Код</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1430000" cy="914400"/>
          </a:xfrm>
          <a:prstGeom prst="rect">
            <a:avLst/>
          </a:prstGeom>
          <a:noFill/>
        </p:spPr>
        <p:txBody>
          <a:bodyPr wrap="square">
            <a:spAutoFit/>
          </a:bodyPr>
          <a:lstStyle/>
          <a:p>
            <a:pPr algn="l"/>
            <a:r>
              <a:rPr sz="2800" b="1">
                <a:solidFill>
                  <a:srgbClr val="FFFFFF"/>
                </a:solidFill>
              </a:rPr>
              <a:t>Размножение кроликов</a:t>
            </a:r>
          </a:p>
        </p:txBody>
      </p:sp>
      <p:sp>
        <p:nvSpPr>
          <p:cNvPr id="4" name="Rectangle 3"/>
          <p:cNvSpPr/>
          <p:nvPr/>
        </p:nvSpPr>
        <p:spPr>
          <a:xfrm>
            <a:off x="365760" y="1325880"/>
            <a:ext cx="11430000" cy="36576"/>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508760"/>
            <a:ext cx="10972800" cy="502920"/>
          </a:xfrm>
          <a:prstGeom prst="rect">
            <a:avLst/>
          </a:prstGeom>
          <a:noFill/>
        </p:spPr>
        <p:txBody>
          <a:bodyPr wrap="square">
            <a:spAutoFit/>
          </a:bodyPr>
          <a:lstStyle/>
          <a:p>
            <a:pPr algn="l"/>
            <a:r>
              <a:rPr sz="1800" b="0">
                <a:solidFill>
                  <a:srgbClr val="CCDDFF"/>
                </a:solidFill>
              </a:rPr>
              <a:t>▸  Тема</a:t>
            </a:r>
          </a:p>
        </p:txBody>
      </p:sp>
      <p:sp>
        <p:nvSpPr>
          <p:cNvPr id="6" name="TextBox 5"/>
          <p:cNvSpPr txBox="1"/>
          <p:nvPr/>
        </p:nvSpPr>
        <p:spPr>
          <a:xfrm>
            <a:off x="548640" y="2103120"/>
            <a:ext cx="10972800" cy="502920"/>
          </a:xfrm>
          <a:prstGeom prst="rect">
            <a:avLst/>
          </a:prstGeom>
          <a:noFill/>
        </p:spPr>
        <p:txBody>
          <a:bodyPr wrap="square">
            <a:spAutoFit/>
          </a:bodyPr>
          <a:lstStyle/>
          <a:p>
            <a:pPr algn="l"/>
            <a:r>
              <a:rPr sz="1800" b="0">
                <a:solidFill>
                  <a:srgbClr val="CCDDFF"/>
                </a:solidFill>
              </a:rPr>
              <a:t>▸  Информация</a:t>
            </a:r>
          </a:p>
        </p:txBody>
      </p:sp>
      <p:sp>
        <p:nvSpPr>
          <p:cNvPr id="7" name="TextBox 6"/>
          <p:cNvSpPr txBox="1"/>
          <p:nvPr/>
        </p:nvSpPr>
        <p:spPr>
          <a:xfrm>
            <a:off x="548640" y="2697479"/>
            <a:ext cx="10972800" cy="502920"/>
          </a:xfrm>
          <a:prstGeom prst="rect">
            <a:avLst/>
          </a:prstGeom>
          <a:noFill/>
        </p:spPr>
        <p:txBody>
          <a:bodyPr wrap="square">
            <a:spAutoFit/>
          </a:bodyPr>
          <a:lstStyle/>
          <a:p>
            <a:pPr algn="l"/>
            <a:r>
              <a:rPr sz="1800" b="0">
                <a:solidFill>
                  <a:srgbClr val="CCDDFF"/>
                </a:solidFill>
              </a:rPr>
              <a:t>▸  Поиск</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1430000" cy="914400"/>
          </a:xfrm>
          <a:prstGeom prst="rect">
            <a:avLst/>
          </a:prstGeom>
          <a:noFill/>
        </p:spPr>
        <p:txBody>
          <a:bodyPr wrap="square">
            <a:spAutoFit/>
          </a:bodyPr>
          <a:lstStyle/>
          <a:p>
            <a:pPr algn="l"/>
            <a:r>
              <a:rPr sz="2800" b="1">
                <a:solidFill>
                  <a:srgbClr val="FFFFFF"/>
                </a:solidFill>
              </a:rPr>
              <a:t>Вывод</a:t>
            </a:r>
          </a:p>
        </p:txBody>
      </p:sp>
      <p:sp>
        <p:nvSpPr>
          <p:cNvPr id="4" name="Rectangle 3"/>
          <p:cNvSpPr/>
          <p:nvPr/>
        </p:nvSpPr>
        <p:spPr>
          <a:xfrm>
            <a:off x="365760" y="1325880"/>
            <a:ext cx="11430000" cy="36576"/>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508760"/>
            <a:ext cx="10972800" cy="502920"/>
          </a:xfrm>
          <a:prstGeom prst="rect">
            <a:avLst/>
          </a:prstGeom>
          <a:noFill/>
        </p:spPr>
        <p:txBody>
          <a:bodyPr wrap="square">
            <a:spAutoFit/>
          </a:bodyPr>
          <a:lstStyle/>
          <a:p>
            <a:pPr algn="l"/>
            <a:r>
              <a:rPr sz="1800" b="0">
                <a:solidFill>
                  <a:srgbClr val="CCDDFF"/>
                </a:solidFill>
              </a:rPr>
              <a:t>▸  Итог</a:t>
            </a:r>
          </a:p>
        </p:txBody>
      </p:sp>
      <p:sp>
        <p:nvSpPr>
          <p:cNvPr id="6" name="TextBox 5"/>
          <p:cNvSpPr txBox="1"/>
          <p:nvPr/>
        </p:nvSpPr>
        <p:spPr>
          <a:xfrm>
            <a:off x="548640" y="2103120"/>
            <a:ext cx="10972800" cy="502920"/>
          </a:xfrm>
          <a:prstGeom prst="rect">
            <a:avLst/>
          </a:prstGeom>
          <a:noFill/>
        </p:spPr>
        <p:txBody>
          <a:bodyPr wrap="square">
            <a:spAutoFit/>
          </a:bodyPr>
          <a:lstStyle/>
          <a:p>
            <a:pPr algn="l"/>
            <a:r>
              <a:rPr sz="1800" b="0">
                <a:solidFill>
                  <a:srgbClr val="CCDDFF"/>
                </a:solidFill>
              </a:rPr>
              <a:t>▸  Результат</a:t>
            </a:r>
          </a:p>
        </p:txBody>
      </p:sp>
      <p:sp>
        <p:nvSpPr>
          <p:cNvPr id="7" name="TextBox 6"/>
          <p:cNvSpPr txBox="1"/>
          <p:nvPr/>
        </p:nvSpPr>
        <p:spPr>
          <a:xfrm>
            <a:off x="548640" y="2697479"/>
            <a:ext cx="10972800" cy="502920"/>
          </a:xfrm>
          <a:prstGeom prst="rect">
            <a:avLst/>
          </a:prstGeom>
          <a:noFill/>
        </p:spPr>
        <p:txBody>
          <a:bodyPr wrap="square">
            <a:spAutoFit/>
          </a:bodyPr>
          <a:lstStyle/>
          <a:p>
            <a:pPr algn="l"/>
            <a:r>
              <a:rPr sz="1800" b="0">
                <a:solidFill>
                  <a:srgbClr val="CCDDFF"/>
                </a:solidFill>
              </a:rPr>
              <a:t>▸  Заключение</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